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communicate that the project is fundamentally about neural state dynamics. PACAN is the computational mechanism, but the biological question is how to move a noisy E/I neural population system out of a seizure-like attractor basin using sparse, robust intervention.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show that the next step is not simply 'more optimization.' The next step is to make the neuroscience model more realistic: multistable empirical landscapes, patient-specific EEG grounding, structural coupling, mechanistic fixed-point interpretation, and manifold-constrained interventions.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4"/>
          </a:solidFill>
          <a:ln w="12700">
            <a:solidFill>
              <a:srgbClr val="06101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01168"/>
            <a:ext cx="1168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AF6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Already Done: From Seizure-Like Attractors to PACAN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" y="612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CF"/>
                </a:solidFill>
              </a:rPr>
              <a:t>Full computational neuroscience pipeline: E/I dynamics → stochastic basin transitions → sparse model-level intervention → EEG grounding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1475720" cy="0"/>
          </a:xfrm>
          <a:prstGeom prst="line">
            <a:avLst/>
          </a:prstGeom>
          <a:noFill/>
          <a:ln w="13970">
            <a:solidFill>
              <a:srgbClr val="28E3E6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024128"/>
            <a:ext cx="1572768" cy="475488"/>
          </a:xfrm>
          <a:prstGeom prst="roundRect">
            <a:avLst>
              <a:gd name="adj" fmla="val 13462"/>
            </a:avLst>
          </a:prstGeom>
          <a:solidFill>
            <a:srgbClr val="08151B"/>
          </a:solidFill>
          <a:ln w="12700">
            <a:solidFill>
              <a:srgbClr val="FF6A3D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3385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AF6F7"/>
                </a:solidFill>
              </a:rPr>
              <a:t>Seizure-like basin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2212848" y="1188720"/>
            <a:ext cx="109728" cy="164592"/>
          </a:xfrm>
          <a:prstGeom prst="chevron">
            <a:avLst/>
          </a:prstGeom>
          <a:solidFill>
            <a:srgbClr val="FF6A3D"/>
          </a:solidFill>
          <a:ln w="12700">
            <a:solidFill>
              <a:srgbClr val="FF6A3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95728" y="1024128"/>
            <a:ext cx="1572768" cy="475488"/>
          </a:xfrm>
          <a:prstGeom prst="roundRect">
            <a:avLst>
              <a:gd name="adj" fmla="val 13462"/>
            </a:avLst>
          </a:prstGeom>
          <a:solidFill>
            <a:srgbClr val="08151B"/>
          </a:solidFill>
          <a:ln w="12700">
            <a:solidFill>
              <a:srgbClr val="9B6BF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113385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AF6F7"/>
                </a:solidFill>
              </a:rPr>
              <a:t>Wilson–Cowan E/I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4133088" y="1188720"/>
            <a:ext cx="109728" cy="164592"/>
          </a:xfrm>
          <a:prstGeom prst="chevron">
            <a:avLst/>
          </a:prstGeom>
          <a:solidFill>
            <a:srgbClr val="9B6BFF"/>
          </a:solidFill>
          <a:ln w="12700">
            <a:solidFill>
              <a:srgbClr val="9B6B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1024128"/>
            <a:ext cx="1572768" cy="475488"/>
          </a:xfrm>
          <a:prstGeom prst="roundRect">
            <a:avLst>
              <a:gd name="adj" fmla="val 13462"/>
            </a:avLst>
          </a:prstGeom>
          <a:solidFill>
            <a:srgbClr val="08151B"/>
          </a:solidFill>
          <a:ln w="12700">
            <a:solidFill>
              <a:srgbClr val="5AB8FF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113385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AF6F7"/>
                </a:solidFill>
              </a:rPr>
              <a:t>Monte Carlo Psucc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6053328" y="1188720"/>
            <a:ext cx="109728" cy="164592"/>
          </a:xfrm>
          <a:prstGeom prst="chevron">
            <a:avLst/>
          </a:prstGeom>
          <a:solidFill>
            <a:srgbClr val="5AB8FF"/>
          </a:solidFill>
          <a:ln w="12700">
            <a:solidFill>
              <a:srgbClr val="5AB8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1024128"/>
            <a:ext cx="1572768" cy="475488"/>
          </a:xfrm>
          <a:prstGeom prst="roundRect">
            <a:avLst>
              <a:gd name="adj" fmla="val 13462"/>
            </a:avLst>
          </a:prstGeom>
          <a:solidFill>
            <a:srgbClr val="08151B"/>
          </a:solidFill>
          <a:ln w="12700">
            <a:solidFill>
              <a:srgbClr val="28E3E6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13385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AF6F7"/>
                </a:solidFill>
              </a:rPr>
              <a:t>PACAN mask search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7973568" y="1188720"/>
            <a:ext cx="109728" cy="164592"/>
          </a:xfrm>
          <a:prstGeom prst="chevron">
            <a:avLst/>
          </a:prstGeom>
          <a:solidFill>
            <a:srgbClr val="28E3E6"/>
          </a:solidFill>
          <a:ln w="12700">
            <a:solidFill>
              <a:srgbClr val="28E3E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6448" y="1024128"/>
            <a:ext cx="1572768" cy="475488"/>
          </a:xfrm>
          <a:prstGeom prst="roundRect">
            <a:avLst>
              <a:gd name="adj" fmla="val 13462"/>
            </a:avLst>
          </a:prstGeom>
          <a:solidFill>
            <a:srgbClr val="08151B"/>
          </a:solidFill>
          <a:ln w="12700">
            <a:solidFill>
              <a:srgbClr val="69E4A6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2168" y="113385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AF6F7"/>
                </a:solidFill>
              </a:rPr>
              <a:t>Landscape/manifold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9893808" y="1188720"/>
            <a:ext cx="109728" cy="164592"/>
          </a:xfrm>
          <a:prstGeom prst="chevron">
            <a:avLst/>
          </a:prstGeom>
          <a:solidFill>
            <a:srgbClr val="69E4A6"/>
          </a:solidFill>
          <a:ln w="12700">
            <a:solidFill>
              <a:srgbClr val="69E4A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76688" y="1024128"/>
            <a:ext cx="1572768" cy="475488"/>
          </a:xfrm>
          <a:prstGeom prst="roundRect">
            <a:avLst>
              <a:gd name="adj" fmla="val 13462"/>
            </a:avLst>
          </a:prstGeom>
          <a:solidFill>
            <a:srgbClr val="08151B"/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22408" y="113385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AF6F7"/>
                </a:solidFill>
              </a:rPr>
              <a:t>CHB-MIT calibration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466344" y="1755648"/>
            <a:ext cx="4581144" cy="2505456"/>
          </a:xfrm>
          <a:prstGeom prst="roundRect">
            <a:avLst>
              <a:gd name="adj" fmla="val 3650"/>
            </a:avLst>
          </a:prstGeom>
          <a:solidFill>
            <a:srgbClr val="08151B"/>
          </a:solidFill>
          <a:ln w="13970">
            <a:solidFill>
              <a:srgbClr val="28E3E6">
                <a:alpha val="85000"/>
              </a:srgbClr>
            </a:solidFill>
            <a:prstDash val="solid"/>
          </a:ln>
        </p:spPr>
      </p:sp>
      <p:pic>
        <p:nvPicPr>
          <p:cNvPr id="24" name="Image 0" descr="/mnt/data/a_wide_dark_high_detail_scientific_illustration.png">    </p:cNvPr>
          <p:cNvPicPr>
            <a:picLocks noChangeAspect="1"/>
          </p:cNvPicPr>
          <p:nvPr/>
        </p:nvPicPr>
        <p:blipFill>
          <a:blip r:embed="rId1"/>
          <a:srcRect l="0" r="0" t="1900" b="1900"/>
          <a:stretch/>
        </p:blipFill>
        <p:spPr>
          <a:xfrm>
            <a:off x="493776" y="1783080"/>
            <a:ext cx="4526280" cy="245059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66928" y="437083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AF6F7"/>
                </a:solidFill>
              </a:rPr>
              <a:t>Central metaphor: pathological neural activity sits in a seizure-like basin; PACAN proposes sparse interventions that either push the state over a barrier or reshape basin geometry.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566928" y="495604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8E3E6"/>
                </a:solidFill>
              </a:rPr>
              <a:t>Psucc = Pr[xT enters healthy basin after intervention]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285232" y="1783080"/>
            <a:ext cx="3090672" cy="1417320"/>
          </a:xfrm>
          <a:prstGeom prst="roundRect">
            <a:avLst>
              <a:gd name="adj" fmla="val 5161"/>
            </a:avLst>
          </a:prstGeom>
          <a:solidFill>
            <a:srgbClr val="0A1A22"/>
          </a:solidFill>
          <a:ln w="12700">
            <a:solidFill>
              <a:srgbClr val="28E3E6">
                <a:alpha val="64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24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422392" y="1883664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8E3E6"/>
                </a:solidFill>
              </a:rPr>
              <a:t>Neuroscience model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5422392" y="2167128"/>
            <a:ext cx="286207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20" dirty="0">
                <a:solidFill>
                  <a:srgbClr val="EAF6F7"/>
                </a:solidFill>
              </a:rPr>
              <a:t>Seizure-like dynamics modeled as pathological attractor states in stochastic neural population systems</a:t>
            </a:r>
            <a:pPr indent="0" marL="0">
              <a:buNone/>
            </a:pPr>
            <a:r>
              <a:rPr lang="en-US" sz="820" dirty="0">
                <a:solidFill>
                  <a:srgbClr val="EAF6F7"/>
                </a:solidFill>
              </a:rPr>
              <a:t>Wilson–Cowan excitatory/inhibitory networks; Hopfield energy-landscape benchmarks</a:t>
            </a:r>
            <a:pPr indent="0" marL="0">
              <a:buNone/>
            </a:pPr>
            <a:r>
              <a:rPr lang="en-US" sz="820" dirty="0">
                <a:solidFill>
                  <a:srgbClr val="EAF6F7"/>
                </a:solidFill>
              </a:rPr>
              <a:t>Three-phase rollout: pre-settlement → intervention → post-settlement basin retention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8613648" y="1783080"/>
            <a:ext cx="3090672" cy="1417320"/>
          </a:xfrm>
          <a:prstGeom prst="roundRect">
            <a:avLst>
              <a:gd name="adj" fmla="val 5161"/>
            </a:avLst>
          </a:prstGeom>
          <a:solidFill>
            <a:srgbClr val="0A1A22"/>
          </a:solidFill>
          <a:ln w="12700">
            <a:solidFill>
              <a:srgbClr val="9B6BFF">
                <a:alpha val="64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24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750808" y="1883664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9B6BFF"/>
                </a:solidFill>
              </a:rPr>
              <a:t>Intervention framework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8750808" y="2167128"/>
            <a:ext cx="286207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20" dirty="0">
                <a:solidFill>
                  <a:srgbClr val="EAF6F7"/>
                </a:solidFill>
              </a:rPr>
              <a:t>Boltzmann/Gibbs sampling over sparse intervention masks plus continuous amplitude refinement</a:t>
            </a:r>
            <a:pPr indent="0" marL="0">
              <a:buNone/>
            </a:pPr>
            <a:r>
              <a:rPr lang="en-US" sz="820" dirty="0">
                <a:solidFill>
                  <a:srgbClr val="EAF6F7"/>
                </a:solidFill>
              </a:rPr>
              <a:t>Optimizes high transition success with sparse, low-effort, robust neural-state shifts</a:t>
            </a:r>
            <a:pPr indent="0" marL="0">
              <a:buNone/>
            </a:pPr>
            <a:r>
              <a:rPr lang="en-US" sz="820" dirty="0">
                <a:solidFill>
                  <a:srgbClr val="EAF6F7"/>
                </a:solidFill>
              </a:rPr>
              <a:t>Compares push interventions versus landscape-reshaping interventions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5285232" y="3429000"/>
            <a:ext cx="6419088" cy="1572768"/>
          </a:xfrm>
          <a:prstGeom prst="roundRect">
            <a:avLst>
              <a:gd name="adj" fmla="val 4651"/>
            </a:avLst>
          </a:prstGeom>
          <a:solidFill>
            <a:srgbClr val="0A1A22"/>
          </a:solidFill>
          <a:ln w="12700">
            <a:solidFill>
              <a:srgbClr val="FFD166">
                <a:alpha val="64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24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422392" y="3529584"/>
            <a:ext cx="619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D166"/>
                </a:solidFill>
              </a:rPr>
              <a:t>Main results so far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5422392" y="3813048"/>
            <a:ext cx="6190488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20" dirty="0">
                <a:solidFill>
                  <a:srgbClr val="EAF6F7"/>
                </a:solidFill>
              </a:rPr>
              <a:t>PACAN improves stochastic transition success over deterministic/greedy baselines: ΔPsucc = +0.0818, +0.1049, +0.1533 for N=10,15,20</a:t>
            </a:r>
            <a:pPr indent="0" marL="0">
              <a:buNone/>
            </a:pPr>
            <a:r>
              <a:rPr lang="en-US" sz="820" dirty="0">
                <a:solidFill>
                  <a:srgbClr val="EAF6F7"/>
                </a:solidFill>
              </a:rPr>
              <a:t>Pareto hypervolume improves ≈1.30×–1.38×; reshape interventions achieve ≈2.3×–2.6× higher Psucc than push at high noise</a:t>
            </a:r>
            <a:pPr indent="0" marL="0">
              <a:buNone/>
            </a:pPr>
            <a:r>
              <a:rPr lang="en-US" sz="820" dirty="0">
                <a:solidFill>
                  <a:srgbClr val="EAF6F7"/>
                </a:solidFill>
              </a:rPr>
              <a:t>Pathological basin dominance grows with scale: volume ≈91.6% → 93.9% → 95.4%; barrier ΔE ≈5.3 → 7.5 → 9.6</a:t>
            </a:r>
            <a:pPr indent="0" marL="0">
              <a:buNone/>
            </a:pPr>
            <a:r>
              <a:rPr lang="en-US" sz="820" dirty="0">
                <a:solidFill>
                  <a:srgbClr val="EAF6F7"/>
                </a:solidFill>
              </a:rPr>
              <a:t>CHB-MIT calibration gives WC parameter CV &lt;15%; MEM landscapes show 8–12 minima; Week 9: 67–75% within-manifold alignment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512064" y="5532120"/>
            <a:ext cx="1280160" cy="530352"/>
          </a:xfrm>
          <a:prstGeom prst="roundRect">
            <a:avLst>
              <a:gd name="adj" fmla="val 12069"/>
            </a:avLst>
          </a:prstGeom>
          <a:solidFill>
            <a:srgbClr val="08151B"/>
          </a:solidFill>
          <a:ln w="12700">
            <a:solidFill>
              <a:srgbClr val="28E3E6">
                <a:alpha val="8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6928" y="560527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E3E6"/>
                </a:solidFill>
              </a:rPr>
              <a:t>+0.1533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85216" y="5843016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A8C8CF"/>
                </a:solidFill>
              </a:rPr>
              <a:t>max ΔPsucc</a:t>
            </a:r>
            <a:endParaRPr lang="en-US" sz="660" dirty="0"/>
          </a:p>
        </p:txBody>
      </p:sp>
      <p:sp>
        <p:nvSpPr>
          <p:cNvPr id="39" name="Shape 36"/>
          <p:cNvSpPr/>
          <p:nvPr/>
        </p:nvSpPr>
        <p:spPr>
          <a:xfrm>
            <a:off x="1920240" y="5532120"/>
            <a:ext cx="1417320" cy="530352"/>
          </a:xfrm>
          <a:prstGeom prst="roundRect">
            <a:avLst>
              <a:gd name="adj" fmla="val 12069"/>
            </a:avLst>
          </a:prstGeom>
          <a:solidFill>
            <a:srgbClr val="08151B"/>
          </a:solidFill>
          <a:ln w="12700">
            <a:solidFill>
              <a:srgbClr val="69E4A6">
                <a:alpha val="8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975104" y="5605272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9E4A6"/>
                </a:solidFill>
              </a:rPr>
              <a:t>1.30×–1.38×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993392" y="584301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A8C8CF"/>
                </a:solidFill>
              </a:rPr>
              <a:t>Pareto HV gain</a:t>
            </a:r>
            <a:endParaRPr lang="en-US" sz="660" dirty="0"/>
          </a:p>
        </p:txBody>
      </p:sp>
      <p:sp>
        <p:nvSpPr>
          <p:cNvPr id="42" name="Shape 39"/>
          <p:cNvSpPr/>
          <p:nvPr/>
        </p:nvSpPr>
        <p:spPr>
          <a:xfrm>
            <a:off x="3474720" y="5532120"/>
            <a:ext cx="1417320" cy="530352"/>
          </a:xfrm>
          <a:prstGeom prst="roundRect">
            <a:avLst>
              <a:gd name="adj" fmla="val 12069"/>
            </a:avLst>
          </a:prstGeom>
          <a:solidFill>
            <a:srgbClr val="08151B"/>
          </a:solidFill>
          <a:ln w="12700">
            <a:solidFill>
              <a:srgbClr val="FF6A3D">
                <a:alpha val="8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529584" y="5605272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A3D"/>
                </a:solidFill>
              </a:rPr>
              <a:t>2.3×–2.6×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3547872" y="584301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A8C8CF"/>
                </a:solidFill>
              </a:rPr>
              <a:t>reshape &gt; push</a:t>
            </a:r>
            <a:endParaRPr lang="en-US" sz="660" dirty="0"/>
          </a:p>
        </p:txBody>
      </p:sp>
      <p:sp>
        <p:nvSpPr>
          <p:cNvPr id="45" name="Shape 42"/>
          <p:cNvSpPr/>
          <p:nvPr/>
        </p:nvSpPr>
        <p:spPr>
          <a:xfrm>
            <a:off x="5029200" y="5532120"/>
            <a:ext cx="1234440" cy="530352"/>
          </a:xfrm>
          <a:prstGeom prst="roundRect">
            <a:avLst>
              <a:gd name="adj" fmla="val 12069"/>
            </a:avLst>
          </a:prstGeom>
          <a:solidFill>
            <a:srgbClr val="08151B"/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84064" y="5605272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&lt;15% CV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5102352" y="5843016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A8C8CF"/>
                </a:solidFill>
              </a:rPr>
              <a:t>CHB-MIT fit</a:t>
            </a:r>
            <a:endParaRPr lang="en-US" sz="660" dirty="0"/>
          </a:p>
        </p:txBody>
      </p:sp>
      <p:sp>
        <p:nvSpPr>
          <p:cNvPr id="48" name="Shape 45"/>
          <p:cNvSpPr/>
          <p:nvPr/>
        </p:nvSpPr>
        <p:spPr>
          <a:xfrm>
            <a:off x="6400800" y="5532120"/>
            <a:ext cx="1051560" cy="530352"/>
          </a:xfrm>
          <a:prstGeom prst="roundRect">
            <a:avLst>
              <a:gd name="adj" fmla="val 12069"/>
            </a:avLst>
          </a:prstGeom>
          <a:solidFill>
            <a:srgbClr val="08151B"/>
          </a:solidFill>
          <a:ln w="12700">
            <a:solidFill>
              <a:srgbClr val="9B6BFF">
                <a:alpha val="8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55664" y="5605272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6BFF"/>
                </a:solidFill>
              </a:rPr>
              <a:t>8–12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6473952" y="5843016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A8C8CF"/>
                </a:solidFill>
              </a:rPr>
              <a:t>EEG minima</a:t>
            </a:r>
            <a:endParaRPr lang="en-US" sz="660" dirty="0"/>
          </a:p>
        </p:txBody>
      </p:sp>
      <p:sp>
        <p:nvSpPr>
          <p:cNvPr id="51" name="Shape 48"/>
          <p:cNvSpPr/>
          <p:nvPr/>
        </p:nvSpPr>
        <p:spPr>
          <a:xfrm>
            <a:off x="7589520" y="5532120"/>
            <a:ext cx="1325880" cy="530352"/>
          </a:xfrm>
          <a:prstGeom prst="roundRect">
            <a:avLst>
              <a:gd name="adj" fmla="val 12069"/>
            </a:avLst>
          </a:prstGeom>
          <a:solidFill>
            <a:srgbClr val="08151B"/>
          </a:solidFill>
          <a:ln w="12700">
            <a:solidFill>
              <a:srgbClr val="5AB8FF">
                <a:alpha val="80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644384" y="560527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B8FF"/>
                </a:solidFill>
              </a:rPr>
              <a:t>67–75%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7662672" y="584301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A8C8CF"/>
                </a:solidFill>
              </a:rPr>
              <a:t>manifold aligned</a:t>
            </a:r>
            <a:endParaRPr lang="en-US" sz="660" dirty="0"/>
          </a:p>
        </p:txBody>
      </p:sp>
      <p:sp>
        <p:nvSpPr>
          <p:cNvPr id="54" name="Shape 51"/>
          <p:cNvSpPr/>
          <p:nvPr/>
        </p:nvSpPr>
        <p:spPr>
          <a:xfrm>
            <a:off x="9052560" y="5532120"/>
            <a:ext cx="1508760" cy="530352"/>
          </a:xfrm>
          <a:prstGeom prst="roundRect">
            <a:avLst>
              <a:gd name="adj" fmla="val 12069"/>
            </a:avLst>
          </a:prstGeom>
          <a:solidFill>
            <a:srgbClr val="08151B"/>
          </a:solidFill>
          <a:ln w="12700">
            <a:solidFill>
              <a:srgbClr val="28E3E6">
                <a:alpha val="80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107424" y="560527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E3E6"/>
                </a:solidFill>
              </a:rPr>
              <a:t>49.1%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9125712" y="5843016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A8C8CF"/>
                </a:solidFill>
              </a:rPr>
              <a:t>optimizer variance N=20</a:t>
            </a:r>
            <a:endParaRPr lang="en-US" sz="660" dirty="0"/>
          </a:p>
        </p:txBody>
      </p:sp>
      <p:sp>
        <p:nvSpPr>
          <p:cNvPr id="57" name="Shape 54"/>
          <p:cNvSpPr/>
          <p:nvPr/>
        </p:nvSpPr>
        <p:spPr>
          <a:xfrm>
            <a:off x="10698480" y="5532120"/>
            <a:ext cx="1051560" cy="530352"/>
          </a:xfrm>
          <a:prstGeom prst="roundRect">
            <a:avLst>
              <a:gd name="adj" fmla="val 12069"/>
            </a:avLst>
          </a:prstGeom>
          <a:solidFill>
            <a:srgbClr val="08151B"/>
          </a:solidFill>
          <a:ln w="12700">
            <a:solidFill>
              <a:srgbClr val="69E4A6">
                <a:alpha val="80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0753344" y="5605272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9E4A6"/>
                </a:solidFill>
              </a:rPr>
              <a:t>N=10–30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10771632" y="5843016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A8C8CF"/>
                </a:solidFill>
              </a:rPr>
              <a:t>scale tested</a:t>
            </a:r>
            <a:endParaRPr lang="en-US" sz="6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4"/>
          </a:solidFill>
          <a:ln w="12700">
            <a:solidFill>
              <a:srgbClr val="06101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201168"/>
            <a:ext cx="1168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AF6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More Can Be Done: Experiments Toward a Strong Neuroscience Paper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" y="612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CF"/>
                </a:solidFill>
              </a:rPr>
              <a:t>Next experiments should make the model more biologically realistic, empirically grounded, and mechanistically interpretable.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1475720" cy="0"/>
          </a:xfrm>
          <a:prstGeom prst="line">
            <a:avLst/>
          </a:prstGeom>
          <a:noFill/>
          <a:ln w="13970">
            <a:solidFill>
              <a:srgbClr val="28E3E6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097280"/>
            <a:ext cx="1408176" cy="475488"/>
          </a:xfrm>
          <a:prstGeom prst="roundRect">
            <a:avLst>
              <a:gd name="adj" fmla="val 13462"/>
            </a:avLst>
          </a:prstGeom>
          <a:solidFill>
            <a:srgbClr val="08151B"/>
          </a:solidFill>
          <a:ln w="12700">
            <a:solidFill>
              <a:srgbClr val="9B6BFF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20700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AF6F7"/>
                </a:solidFill>
              </a:rPr>
              <a:t>Multistable landscapes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2148840" y="1261872"/>
            <a:ext cx="109728" cy="164592"/>
          </a:xfrm>
          <a:prstGeom prst="chevron">
            <a:avLst/>
          </a:prstGeom>
          <a:solidFill>
            <a:srgbClr val="9B6BFF"/>
          </a:solidFill>
          <a:ln w="12700">
            <a:solidFill>
              <a:srgbClr val="9B6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6584" y="1097280"/>
            <a:ext cx="1408176" cy="475488"/>
          </a:xfrm>
          <a:prstGeom prst="roundRect">
            <a:avLst>
              <a:gd name="adj" fmla="val 13462"/>
            </a:avLst>
          </a:prstGeom>
          <a:solidFill>
            <a:srgbClr val="08151B"/>
          </a:solidFill>
          <a:ln w="12700">
            <a:solidFill>
              <a:srgbClr val="28E3E6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120700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AF6F7"/>
                </a:solidFill>
              </a:rPr>
              <a:t>Patient-specific EEG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913632" y="1261872"/>
            <a:ext cx="109728" cy="164592"/>
          </a:xfrm>
          <a:prstGeom prst="chevron">
            <a:avLst/>
          </a:prstGeom>
          <a:solidFill>
            <a:srgbClr val="28E3E6"/>
          </a:solidFill>
          <a:ln w="12700">
            <a:solidFill>
              <a:srgbClr val="28E3E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51376" y="1097280"/>
            <a:ext cx="1408176" cy="475488"/>
          </a:xfrm>
          <a:prstGeom prst="roundRect">
            <a:avLst>
              <a:gd name="adj" fmla="val 13462"/>
            </a:avLst>
          </a:prstGeom>
          <a:solidFill>
            <a:srgbClr val="08151B"/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97096" y="120700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AF6F7"/>
                </a:solidFill>
              </a:rPr>
              <a:t>Structure-informed coupling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5678424" y="1261872"/>
            <a:ext cx="109728" cy="164592"/>
          </a:xfrm>
          <a:prstGeom prst="chevron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16168" y="1097280"/>
            <a:ext cx="1408176" cy="475488"/>
          </a:xfrm>
          <a:prstGeom prst="roundRect">
            <a:avLst>
              <a:gd name="adj" fmla="val 13462"/>
            </a:avLst>
          </a:prstGeom>
          <a:solidFill>
            <a:srgbClr val="08151B"/>
          </a:solidFill>
          <a:ln w="12700">
            <a:solidFill>
              <a:srgbClr val="69E4A6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120700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AF6F7"/>
                </a:solidFill>
              </a:rPr>
              <a:t>Manifold-constrained PACAN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30352" y="18470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E3E6"/>
                </a:solidFill>
              </a:rPr>
              <a:t>Immediate experiments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4224" y="18470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9E4A6"/>
                </a:solidFill>
              </a:rPr>
              <a:t>Publication-strength extensions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16168" y="1783080"/>
            <a:ext cx="0" cy="4160520"/>
          </a:xfrm>
          <a:prstGeom prst="line">
            <a:avLst/>
          </a:prstGeom>
          <a:noFill/>
          <a:ln w="15240">
            <a:solidFill>
              <a:srgbClr val="1E41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2267712"/>
            <a:ext cx="5047488" cy="603504"/>
          </a:xfrm>
          <a:prstGeom prst="roundRect">
            <a:avLst>
              <a:gd name="adj" fmla="val 12121"/>
            </a:avLst>
          </a:prstGeom>
          <a:solidFill>
            <a:srgbClr val="0A1A22"/>
          </a:solidFill>
          <a:ln w="12700">
            <a:solidFill>
              <a:srgbClr val="28E3E6">
                <a:alpha val="64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2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" y="2368296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8E3E6"/>
                </a:solidFill>
              </a:rPr>
              <a:t>1. Multi-attractor neural benchmark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04088" y="2651760"/>
            <a:ext cx="48188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20" dirty="0">
                <a:solidFill>
                  <a:srgbClr val="EAF6F7"/>
                </a:solidFill>
              </a:rPr>
              <a:t>Extend beyond bistable WC systems; use MEM-inspired landscapes with 8–12 minima and test target-basin selectivity.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66928" y="3017520"/>
            <a:ext cx="5047488" cy="603504"/>
          </a:xfrm>
          <a:prstGeom prst="roundRect">
            <a:avLst>
              <a:gd name="adj" fmla="val 12121"/>
            </a:avLst>
          </a:prstGeom>
          <a:solidFill>
            <a:srgbClr val="0A1A22"/>
          </a:solidFill>
          <a:ln w="12700">
            <a:solidFill>
              <a:srgbClr val="28E3E6">
                <a:alpha val="64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2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4088" y="3118104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8E3E6"/>
                </a:solidFill>
              </a:rPr>
              <a:t>2. Larger-scale E/I networks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704088" y="3401568"/>
            <a:ext cx="48188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20" dirty="0">
                <a:solidFill>
                  <a:srgbClr val="EAF6F7"/>
                </a:solidFill>
              </a:rPr>
              <a:t>Scale N=50–100; measure whether PACAN advantage widens as intervention masks become more combinatorial.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66928" y="3767328"/>
            <a:ext cx="5047488" cy="603504"/>
          </a:xfrm>
          <a:prstGeom prst="roundRect">
            <a:avLst>
              <a:gd name="adj" fmla="val 12121"/>
            </a:avLst>
          </a:prstGeom>
          <a:solidFill>
            <a:srgbClr val="0A1A22"/>
          </a:solidFill>
          <a:ln w="12700">
            <a:solidFill>
              <a:srgbClr val="28E3E6">
                <a:alpha val="64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2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4088" y="3867912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8E3E6"/>
                </a:solidFill>
              </a:rPr>
              <a:t>3. Stronger baselines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04088" y="4151376"/>
            <a:ext cx="48188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20" dirty="0">
                <a:solidFill>
                  <a:srgbClr val="EAF6F7"/>
                </a:solidFill>
              </a:rPr>
              <a:t>Compare simulated annealing, random, greedy, degree centrality, FVS, Bayesian, and evolutionary search.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66928" y="4517136"/>
            <a:ext cx="5047488" cy="603504"/>
          </a:xfrm>
          <a:prstGeom prst="roundRect">
            <a:avLst>
              <a:gd name="adj" fmla="val 12121"/>
            </a:avLst>
          </a:prstGeom>
          <a:solidFill>
            <a:srgbClr val="0A1A22"/>
          </a:solidFill>
          <a:ln w="12700">
            <a:solidFill>
              <a:srgbClr val="28E3E6">
                <a:alpha val="64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2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04088" y="4617720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8E3E6"/>
                </a:solidFill>
              </a:rPr>
              <a:t>4. Noise-regime sensitivity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704088" y="4901184"/>
            <a:ext cx="48188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20" dirty="0">
                <a:solidFill>
                  <a:srgbClr val="EAF6F7"/>
                </a:solidFill>
              </a:rPr>
              <a:t>Separate CHB-MIT-fitted σ from stress-test σ; report where PACAN is plausible vs robustness-only.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236208" y="2267712"/>
            <a:ext cx="5358384" cy="475488"/>
          </a:xfrm>
          <a:prstGeom prst="roundRect">
            <a:avLst>
              <a:gd name="adj" fmla="val 15385"/>
            </a:avLst>
          </a:prstGeom>
          <a:solidFill>
            <a:srgbClr val="0A1A22"/>
          </a:solidFill>
          <a:ln w="12700">
            <a:solidFill>
              <a:srgbClr val="69E4A6">
                <a:alpha val="64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2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73368" y="236829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9E4A6"/>
                </a:solidFill>
              </a:rPr>
              <a:t>1. Patient-specific EEG calibration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373368" y="2651760"/>
            <a:ext cx="5129784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20" dirty="0">
                <a:solidFill>
                  <a:srgbClr val="EAF6F7"/>
                </a:solidFill>
              </a:rPr>
              <a:t>Estimate patient-specific E/I proxies, empirical barriers, and basin occupancy; relate selected nodes to seizure-relevant EEG channels.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236208" y="2852928"/>
            <a:ext cx="5358384" cy="475488"/>
          </a:xfrm>
          <a:prstGeom prst="roundRect">
            <a:avLst>
              <a:gd name="adj" fmla="val 15385"/>
            </a:avLst>
          </a:prstGeom>
          <a:solidFill>
            <a:srgbClr val="0A1A22"/>
          </a:solidFill>
          <a:ln w="12700">
            <a:solidFill>
              <a:srgbClr val="69E4A6">
                <a:alpha val="64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2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73368" y="295351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9E4A6"/>
                </a:solidFill>
              </a:rPr>
              <a:t>2. Structure-informed neural coupling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373368" y="3236976"/>
            <a:ext cx="5129784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20" dirty="0">
                <a:solidFill>
                  <a:srgbClr val="EAF6F7"/>
                </a:solidFill>
              </a:rPr>
              <a:t>Use connectome or seizure-network topology; compare selected nodes to degree, controllability, and onset-zone proxies.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236208" y="3438144"/>
            <a:ext cx="5358384" cy="475488"/>
          </a:xfrm>
          <a:prstGeom prst="roundRect">
            <a:avLst>
              <a:gd name="adj" fmla="val 15385"/>
            </a:avLst>
          </a:prstGeom>
          <a:solidFill>
            <a:srgbClr val="0A1A22"/>
          </a:solidFill>
          <a:ln w="12700">
            <a:solidFill>
              <a:srgbClr val="69E4A6">
                <a:alpha val="64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2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73368" y="3538728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9E4A6"/>
                </a:solidFill>
              </a:rPr>
              <a:t>3. Mechanistic fixed-point analysis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6373368" y="3822192"/>
            <a:ext cx="5129784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20" dirty="0">
                <a:solidFill>
                  <a:srgbClr val="EAF6F7"/>
                </a:solidFill>
              </a:rPr>
              <a:t>Explain success via Jacobian eigenvalues: destabilize pathology, lower barriers, create transient healthy basin, align with modes.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236208" y="4023360"/>
            <a:ext cx="5358384" cy="475488"/>
          </a:xfrm>
          <a:prstGeom prst="roundRect">
            <a:avLst>
              <a:gd name="adj" fmla="val 15385"/>
            </a:avLst>
          </a:prstGeom>
          <a:solidFill>
            <a:srgbClr val="0A1A22"/>
          </a:solidFill>
          <a:ln w="12700">
            <a:solidFill>
              <a:srgbClr val="69E4A6">
                <a:alpha val="64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2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73368" y="4123944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9E4A6"/>
                </a:solidFill>
              </a:rPr>
              <a:t>4. Surrogate / real-time extension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6373368" y="4407408"/>
            <a:ext cx="5129784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20" dirty="0">
                <a:solidFill>
                  <a:srgbClr val="EAF6F7"/>
                </a:solidFill>
              </a:rPr>
              <a:t>Train recurrent or neural-ODE surrogate to accelerate PACAN search; report design time as translational metric.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236208" y="4608576"/>
            <a:ext cx="5358384" cy="475488"/>
          </a:xfrm>
          <a:prstGeom prst="roundRect">
            <a:avLst>
              <a:gd name="adj" fmla="val 15385"/>
            </a:avLst>
          </a:prstGeom>
          <a:solidFill>
            <a:srgbClr val="0A1A22"/>
          </a:solidFill>
          <a:ln w="12700">
            <a:solidFill>
              <a:srgbClr val="69E4A6">
                <a:alpha val="64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24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73368" y="470916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9E4A6"/>
                </a:solidFill>
              </a:rPr>
              <a:t>5. Manifold-constrained intervention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6373368" y="4992624"/>
            <a:ext cx="5129784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20" dirty="0">
                <a:solidFill>
                  <a:srgbClr val="EAF6F7"/>
                </a:solidFill>
              </a:rPr>
              <a:t>Add penalty favoring within-manifold stimulation; hypothesis: lower effort and stronger generalization.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566928" y="5596128"/>
            <a:ext cx="2651760" cy="530352"/>
          </a:xfrm>
          <a:prstGeom prst="roundRect">
            <a:avLst>
              <a:gd name="adj" fmla="val 12069"/>
            </a:avLst>
          </a:prstGeom>
          <a:solidFill>
            <a:srgbClr val="08151B"/>
          </a:solidFill>
          <a:ln w="12700">
            <a:solidFill>
              <a:srgbClr val="9B6BFF">
                <a:alpha val="7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567842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9B6BFF"/>
                </a:solidFill>
              </a:rPr>
              <a:t>Current evidence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713232" y="5870448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EAF6F7"/>
                </a:solidFill>
              </a:rPr>
              <a:t>WC + Hopfield + CHB-MIT + manifold analysis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401568" y="5596128"/>
            <a:ext cx="2880360" cy="530352"/>
          </a:xfrm>
          <a:prstGeom prst="roundRect">
            <a:avLst>
              <a:gd name="adj" fmla="val 12069"/>
            </a:avLst>
          </a:prstGeom>
          <a:solidFill>
            <a:srgbClr val="08151B"/>
          </a:solidFill>
          <a:ln w="12700">
            <a:solidFill>
              <a:srgbClr val="FFD166">
                <a:alpha val="7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47872" y="567842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FD166"/>
                </a:solidFill>
              </a:rPr>
              <a:t>Next evidence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3547872" y="5870448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EAF6F7"/>
                </a:solidFill>
              </a:rPr>
              <a:t>Multistable + patient EEG + coupling + baselines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6473952" y="5486400"/>
            <a:ext cx="4736592" cy="658368"/>
          </a:xfrm>
          <a:prstGeom prst="roundRect">
            <a:avLst>
              <a:gd name="adj" fmla="val 11111"/>
            </a:avLst>
          </a:prstGeom>
          <a:solidFill>
            <a:srgbClr val="08151B"/>
          </a:solidFill>
          <a:ln w="15240">
            <a:solidFill>
              <a:srgbClr val="28E3E6">
                <a:alpha val="8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47688" y="559612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8E3E6"/>
                </a:solidFill>
              </a:rPr>
              <a:t>Target contribution</a:t>
            </a:r>
            <a:endParaRPr lang="en-US" sz="830" dirty="0"/>
          </a:p>
        </p:txBody>
      </p:sp>
      <p:sp>
        <p:nvSpPr>
          <p:cNvPr id="55" name="Text 53"/>
          <p:cNvSpPr/>
          <p:nvPr/>
        </p:nvSpPr>
        <p:spPr>
          <a:xfrm>
            <a:off x="6647688" y="5797296"/>
            <a:ext cx="4315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EAF6F7"/>
                </a:solidFill>
              </a:rPr>
              <a:t>Noise-aware, manifold-aligned sparse intervention framework for seizure-like attractor dynamics in stochastic E/I models, grounded by CHB-MIT EEG.</a:t>
            </a:r>
            <a:endParaRPr lang="en-US" sz="690" dirty="0"/>
          </a:p>
        </p:txBody>
      </p:sp>
      <p:sp>
        <p:nvSpPr>
          <p:cNvPr id="56" name="Text 54"/>
          <p:cNvSpPr/>
          <p:nvPr/>
        </p:nvSpPr>
        <p:spPr>
          <a:xfrm>
            <a:off x="594360" y="633679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8E3E6"/>
                </a:solidFill>
              </a:rPr>
              <a:t>Objective: maximize Psucc while minimizing |I| and energy     •     Psucc = Pr[xT ∈ healthy basin]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PACAN: Probabilistic Attractor Control for Seizure-Like Neural Population Dynamics</dc:title>
  <dc:subject>Computational neuroscience lab meeting update</dc:subject>
  <dc:creator>OpenAI</dc:creator>
  <cp:lastModifiedBy>OpenAI</cp:lastModifiedBy>
  <cp:revision>1</cp:revision>
  <dcterms:created xsi:type="dcterms:W3CDTF">2026-05-13T04:40:05Z</dcterms:created>
  <dcterms:modified xsi:type="dcterms:W3CDTF">2026-05-13T04:40:05Z</dcterms:modified>
</cp:coreProperties>
</file>